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8100"/>
          </a:xfrm>
          <a:custGeom>
            <a:avLst/>
            <a:gdLst/>
            <a:ahLst/>
            <a:cxnLst/>
            <a:rect l="l" t="t" r="r" b="b"/>
            <a:pathLst>
              <a:path w="4608195" h="38100">
                <a:moveTo>
                  <a:pt x="4608004" y="0"/>
                </a:moveTo>
                <a:lnTo>
                  <a:pt x="0" y="0"/>
                </a:lnTo>
                <a:lnTo>
                  <a:pt x="0" y="37960"/>
                </a:lnTo>
                <a:lnTo>
                  <a:pt x="4608004" y="37960"/>
                </a:lnTo>
                <a:lnTo>
                  <a:pt x="4608004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5839" y="157314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63258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38366" y="218046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0" y="0"/>
                </a:moveTo>
                <a:lnTo>
                  <a:pt x="632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15363"/>
            <a:ext cx="22434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30148" y="1171453"/>
            <a:ext cx="2155190" cy="784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3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4.xml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5.xml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6.xml"/><Relationship Id="rId4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image" Target="../media/image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8.xml"/><Relationship Id="rId4" Type="http://schemas.openxmlformats.org/officeDocument/2006/relationships/image" Target="../media/image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9.xml"/><Relationship Id="rId4" Type="http://schemas.openxmlformats.org/officeDocument/2006/relationships/image" Target="../media/image1.jpg"/><Relationship Id="rId5" Type="http://schemas.openxmlformats.org/officeDocument/2006/relationships/hyperlink" Target="https://github.com/Ejkenway/COMP3011-CW1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Relationship Id="rId3" Type="http://schemas.openxmlformats.org/officeDocument/2006/relationships/slide" Target="slide10.xml"/><Relationship Id="rId4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38100"/>
          </a:xfrm>
          <a:custGeom>
            <a:avLst/>
            <a:gdLst/>
            <a:ahLst/>
            <a:cxnLst/>
            <a:rect l="l" t="t" r="r" b="b"/>
            <a:pathLst>
              <a:path w="4608195" h="38100">
                <a:moveTo>
                  <a:pt x="4608004" y="0"/>
                </a:moveTo>
                <a:lnTo>
                  <a:pt x="0" y="0"/>
                </a:lnTo>
                <a:lnTo>
                  <a:pt x="0" y="37960"/>
                </a:lnTo>
                <a:lnTo>
                  <a:pt x="4608004" y="37960"/>
                </a:lnTo>
                <a:lnTo>
                  <a:pt x="4608004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33685"/>
            <a:ext cx="14116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5" name="object 5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3282" y="1132253"/>
            <a:ext cx="3081655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835025" marR="5080" indent="-822960">
              <a:lnSpc>
                <a:spcPct val="106700"/>
              </a:lnSpc>
              <a:spcBef>
                <a:spcPts val="20"/>
              </a:spcBef>
            </a:pPr>
            <a:r>
              <a:rPr dirty="0" spc="-50"/>
              <a:t>COMP3011</a:t>
            </a:r>
            <a:r>
              <a:rPr dirty="0" spc="-30"/>
              <a:t> </a:t>
            </a:r>
            <a:r>
              <a:rPr dirty="0" spc="-55"/>
              <a:t>Web</a:t>
            </a:r>
            <a:r>
              <a:rPr dirty="0" spc="-15"/>
              <a:t> </a:t>
            </a:r>
            <a:r>
              <a:rPr dirty="0" spc="-90"/>
              <a:t>Services</a:t>
            </a:r>
            <a:r>
              <a:rPr dirty="0" spc="-10"/>
              <a:t> </a:t>
            </a:r>
            <a:r>
              <a:rPr dirty="0" spc="-40"/>
              <a:t>and</a:t>
            </a:r>
            <a:r>
              <a:rPr dirty="0" spc="-20"/>
              <a:t> </a:t>
            </a:r>
            <a:r>
              <a:rPr dirty="0" spc="-55"/>
              <a:t>Web</a:t>
            </a:r>
            <a:r>
              <a:rPr dirty="0" spc="-15"/>
              <a:t> </a:t>
            </a:r>
            <a:r>
              <a:rPr dirty="0" spc="-20"/>
              <a:t>Data </a:t>
            </a:r>
            <a:r>
              <a:rPr dirty="0" spc="-40"/>
              <a:t>Presentation</a:t>
            </a:r>
            <a:r>
              <a:rPr dirty="0"/>
              <a:t> </a:t>
            </a:r>
            <a:r>
              <a:rPr dirty="0" spc="-10"/>
              <a:t>Slides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534109" y="1853500"/>
            <a:ext cx="1540510" cy="5899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Arial"/>
                <a:cs typeface="Arial"/>
              </a:rPr>
              <a:t>Yuankun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Zhou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201690952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algn="ctr" marL="294640" marR="287020">
              <a:lnSpc>
                <a:spcPts val="950"/>
              </a:lnSpc>
            </a:pPr>
            <a:r>
              <a:rPr dirty="0" sz="800" spc="-10">
                <a:latin typeface="Arial"/>
                <a:cs typeface="Arial"/>
              </a:rPr>
              <a:t>School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Computing </a:t>
            </a:r>
            <a:r>
              <a:rPr dirty="0" sz="800">
                <a:latin typeface="Arial"/>
                <a:cs typeface="Arial"/>
              </a:rPr>
              <a:t>University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Leeds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Project</a:t>
            </a:r>
            <a:r>
              <a:rPr dirty="0" sz="600" spc="2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Theme</a:t>
            </a:r>
            <a:r>
              <a:rPr dirty="0" sz="600" spc="2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80">
                <a:latin typeface="Arial"/>
                <a:cs typeface="Arial"/>
                <a:hlinkClick r:id="rId3" action="ppaction://hlinksldjump"/>
              </a:rPr>
              <a:t>&amp;</a:t>
            </a:r>
            <a:r>
              <a:rPr dirty="0" sz="600" spc="2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3" action="ppaction://hlinksldjump"/>
              </a:rPr>
              <a:t>Use</a:t>
            </a:r>
            <a:r>
              <a:rPr dirty="0" sz="600" spc="2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Cases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515363"/>
            <a:ext cx="212915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Project</a:t>
            </a:r>
            <a:r>
              <a:rPr dirty="0"/>
              <a:t> </a:t>
            </a:r>
            <a:r>
              <a:rPr dirty="0" spc="-45"/>
              <a:t>Theme</a:t>
            </a:r>
            <a:r>
              <a:rPr dirty="0" spc="10"/>
              <a:t> </a:t>
            </a:r>
            <a:r>
              <a:rPr dirty="0" spc="120"/>
              <a:t>&amp;</a:t>
            </a:r>
            <a:r>
              <a:rPr dirty="0" spc="10"/>
              <a:t> </a:t>
            </a:r>
            <a:r>
              <a:rPr dirty="0" spc="-110"/>
              <a:t>Use</a:t>
            </a:r>
            <a:r>
              <a:rPr dirty="0" spc="15"/>
              <a:t> </a:t>
            </a:r>
            <a:r>
              <a:rPr dirty="0" spc="-125"/>
              <a:t>Cases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96494" y="753070"/>
            <a:ext cx="3797300" cy="1562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Theme: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Smart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Productivity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Analytics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Platform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885"/>
              </a:spcBef>
            </a:pPr>
            <a:r>
              <a:rPr dirty="0" sz="1100" spc="-35" b="1">
                <a:latin typeface="Arial"/>
                <a:cs typeface="Arial"/>
              </a:rPr>
              <a:t>Application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Scenarios:</a:t>
            </a:r>
            <a:endParaRPr sz="11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28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04">
                <a:latin typeface="Lucida Grande"/>
                <a:cs typeface="Lucida Grande"/>
              </a:rPr>
              <a:t> </a:t>
            </a:r>
            <a:r>
              <a:rPr dirty="0" sz="1100" spc="-60">
                <a:latin typeface="Arial"/>
                <a:cs typeface="Arial"/>
              </a:rPr>
              <a:t>Personal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task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60">
                <a:latin typeface="Arial"/>
                <a:cs typeface="Arial"/>
              </a:rPr>
              <a:t>management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tracking</a:t>
            </a:r>
            <a:endParaRPr sz="11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27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35">
                <a:latin typeface="Lucida Grande"/>
                <a:cs typeface="Lucida Grande"/>
              </a:rPr>
              <a:t> </a:t>
            </a:r>
            <a:r>
              <a:rPr dirty="0" sz="1100" spc="-10">
                <a:latin typeface="Arial"/>
                <a:cs typeface="Arial"/>
              </a:rPr>
              <a:t>Productivity data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65">
                <a:latin typeface="Arial"/>
                <a:cs typeface="Arial"/>
              </a:rPr>
              <a:t>analysis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insights</a:t>
            </a:r>
            <a:endParaRPr sz="1100">
              <a:latin typeface="Arial"/>
              <a:cs typeface="Arial"/>
            </a:endParaRPr>
          </a:p>
          <a:p>
            <a:pPr marL="340360" marR="55880" indent="-177165">
              <a:lnSpc>
                <a:spcPct val="102699"/>
              </a:lnSpc>
              <a:spcBef>
                <a:spcPts val="234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35">
                <a:latin typeface="Lucida Grande"/>
                <a:cs typeface="Lucida Grande"/>
              </a:rPr>
              <a:t> </a:t>
            </a:r>
            <a:r>
              <a:rPr dirty="0" sz="1100">
                <a:latin typeface="Arial"/>
                <a:cs typeface="Arial"/>
              </a:rPr>
              <a:t>AI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40">
                <a:latin typeface="Arial"/>
                <a:cs typeface="Arial"/>
              </a:rPr>
              <a:t>assistant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integration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40">
                <a:latin typeface="Arial"/>
                <a:cs typeface="Arial"/>
              </a:rPr>
              <a:t>(Claude,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ChatGPT)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automated </a:t>
            </a:r>
            <a:r>
              <a:rPr dirty="0" sz="1100" spc="-10">
                <a:latin typeface="Arial"/>
                <a:cs typeface="Arial"/>
              </a:rPr>
              <a:t>operations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</a:pPr>
            <a:r>
              <a:rPr dirty="0" sz="1100" spc="-30" b="1">
                <a:latin typeface="Arial"/>
                <a:cs typeface="Arial"/>
              </a:rPr>
              <a:t>Core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Features: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88175" y="2393111"/>
            <a:ext cx="3632200" cy="0"/>
          </a:xfrm>
          <a:custGeom>
            <a:avLst/>
            <a:gdLst/>
            <a:ahLst/>
            <a:cxnLst/>
            <a:rect l="l" t="t" r="r" b="b"/>
            <a:pathLst>
              <a:path w="3632200" h="0">
                <a:moveTo>
                  <a:pt x="0" y="0"/>
                </a:moveTo>
                <a:lnTo>
                  <a:pt x="3631641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51395" y="2405740"/>
            <a:ext cx="46418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Feature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77051" y="2405740"/>
            <a:ext cx="6800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 b="1"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88175" y="2618600"/>
            <a:ext cx="3632200" cy="0"/>
          </a:xfrm>
          <a:custGeom>
            <a:avLst/>
            <a:gdLst/>
            <a:ahLst/>
            <a:cxnLst/>
            <a:rect l="l" t="t" r="r" b="b"/>
            <a:pathLst>
              <a:path w="3632200" h="0">
                <a:moveTo>
                  <a:pt x="0" y="0"/>
                </a:moveTo>
                <a:lnTo>
                  <a:pt x="3631641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51395" y="2629146"/>
            <a:ext cx="99949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Task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55">
                <a:latin typeface="Arial"/>
                <a:cs typeface="Arial"/>
              </a:rPr>
              <a:t>Management Categories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85">
                <a:latin typeface="Arial"/>
                <a:cs typeface="Arial"/>
              </a:rPr>
              <a:t>&amp;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-75">
                <a:latin typeface="Arial"/>
                <a:cs typeface="Arial"/>
              </a:rPr>
              <a:t>Tags </a:t>
            </a:r>
            <a:r>
              <a:rPr dirty="0" sz="1000" spc="-10">
                <a:latin typeface="Arial"/>
                <a:cs typeface="Arial"/>
              </a:rPr>
              <a:t>Analytics</a:t>
            </a:r>
            <a:endParaRPr sz="1000">
              <a:latin typeface="Arial"/>
              <a:cs typeface="Arial"/>
            </a:endParaRPr>
          </a:p>
          <a:p>
            <a:pPr algn="just" marL="12700">
              <a:lnSpc>
                <a:spcPts val="1185"/>
              </a:lnSpc>
            </a:pPr>
            <a:r>
              <a:rPr dirty="0" sz="1000">
                <a:latin typeface="Arial"/>
                <a:cs typeface="Arial"/>
              </a:rPr>
              <a:t>MCP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Integration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76836" y="2629146"/>
            <a:ext cx="238061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Arial"/>
                <a:cs typeface="Arial"/>
              </a:rPr>
              <a:t>Create,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categorize,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prioritize,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track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status </a:t>
            </a:r>
            <a:r>
              <a:rPr dirty="0" sz="1000" spc="-35">
                <a:latin typeface="Arial"/>
                <a:cs typeface="Arial"/>
              </a:rPr>
              <a:t>Hierarchical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categories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185">
                <a:latin typeface="Arial"/>
                <a:cs typeface="Arial"/>
              </a:rPr>
              <a:t>+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flexible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tagging </a:t>
            </a:r>
            <a:r>
              <a:rPr dirty="0" sz="1000" spc="-30">
                <a:latin typeface="Arial"/>
                <a:cs typeface="Arial"/>
              </a:rPr>
              <a:t>Completion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rates,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trends,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55">
                <a:latin typeface="Arial"/>
                <a:cs typeface="Arial"/>
              </a:rPr>
              <a:t>dashboard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insights </a:t>
            </a:r>
            <a:r>
              <a:rPr dirty="0" sz="1000">
                <a:latin typeface="Arial"/>
                <a:cs typeface="Arial"/>
              </a:rPr>
              <a:t>AI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agent</a:t>
            </a:r>
            <a:r>
              <a:rPr dirty="0" sz="1000">
                <a:latin typeface="Arial"/>
                <a:cs typeface="Arial"/>
              </a:rPr>
              <a:t> tool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discovery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and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execution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88175" y="3299586"/>
            <a:ext cx="3632200" cy="0"/>
          </a:xfrm>
          <a:custGeom>
            <a:avLst/>
            <a:gdLst/>
            <a:ahLst/>
            <a:cxnLst/>
            <a:rect l="l" t="t" r="r" b="b"/>
            <a:pathLst>
              <a:path w="3632200" h="0">
                <a:moveTo>
                  <a:pt x="0" y="0"/>
                </a:moveTo>
                <a:lnTo>
                  <a:pt x="3631641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Project</a:t>
            </a:r>
            <a:r>
              <a:rPr dirty="0" sz="600" spc="6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515363"/>
            <a:ext cx="129540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Project</a:t>
            </a:r>
            <a:r>
              <a:rPr dirty="0" spc="-30"/>
              <a:t> </a:t>
            </a:r>
            <a:r>
              <a:rPr dirty="0" spc="-60"/>
              <a:t>Overview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47294" y="936166"/>
            <a:ext cx="3911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RESTful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API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Task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Management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100" b="1">
                <a:latin typeface="Arial"/>
                <a:cs typeface="Arial"/>
              </a:rPr>
              <a:t>&amp;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Productivity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Analytics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1904" y="1244470"/>
            <a:ext cx="1977389" cy="16300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50" b="1">
                <a:latin typeface="Arial"/>
                <a:cs typeface="Arial"/>
              </a:rPr>
              <a:t>Technology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Stack: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4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89">
                <a:latin typeface="Lucida Grande"/>
                <a:cs typeface="Lucida Grande"/>
              </a:rPr>
              <a:t> </a:t>
            </a:r>
            <a:r>
              <a:rPr dirty="0" sz="1100" spc="-25">
                <a:latin typeface="Arial"/>
                <a:cs typeface="Arial"/>
              </a:rPr>
              <a:t>Django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5.2</a:t>
            </a:r>
            <a:endParaRPr sz="1100">
              <a:latin typeface="Arial"/>
              <a:cs typeface="Arial"/>
            </a:endParaRPr>
          </a:p>
          <a:p>
            <a:pPr marL="314960" marR="172720" indent="-177165">
              <a:lnSpc>
                <a:spcPct val="102600"/>
              </a:lnSpc>
              <a:spcBef>
                <a:spcPts val="29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82">
                <a:latin typeface="Lucida Grande"/>
                <a:cs typeface="Lucida Grande"/>
              </a:rPr>
              <a:t> </a:t>
            </a:r>
            <a:r>
              <a:rPr dirty="0" sz="1100" spc="-25">
                <a:latin typeface="Arial"/>
                <a:cs typeface="Arial"/>
              </a:rPr>
              <a:t>Django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REST </a:t>
            </a:r>
            <a:r>
              <a:rPr dirty="0" sz="1100" spc="-65">
                <a:latin typeface="Arial"/>
                <a:cs typeface="Arial"/>
              </a:rPr>
              <a:t>Framework </a:t>
            </a:r>
            <a:r>
              <a:rPr dirty="0" sz="1100" spc="-20">
                <a:latin typeface="Arial"/>
                <a:cs typeface="Arial"/>
              </a:rPr>
              <a:t>3.15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79">
                <a:latin typeface="Lucida Grande"/>
                <a:cs typeface="Lucida Grande"/>
              </a:rPr>
              <a:t> </a:t>
            </a:r>
            <a:r>
              <a:rPr dirty="0" sz="1100" spc="-45">
                <a:latin typeface="Arial"/>
                <a:cs typeface="Arial"/>
              </a:rPr>
              <a:t>Simple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JWT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Authentication</a:t>
            </a:r>
            <a:endParaRPr sz="1100">
              <a:latin typeface="Arial"/>
              <a:cs typeface="Arial"/>
            </a:endParaRPr>
          </a:p>
          <a:p>
            <a:pPr marL="314960" marR="17145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50">
                <a:latin typeface="Lucida Grande"/>
                <a:cs typeface="Lucida Grande"/>
              </a:rPr>
              <a:t> </a:t>
            </a:r>
            <a:r>
              <a:rPr dirty="0" sz="1100" spc="-40">
                <a:latin typeface="Arial"/>
                <a:cs typeface="Arial"/>
              </a:rPr>
              <a:t>drf-spectacular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(OpenAPI </a:t>
            </a:r>
            <a:r>
              <a:rPr dirty="0" sz="1100" spc="-20">
                <a:latin typeface="Arial"/>
                <a:cs typeface="Arial"/>
              </a:rPr>
              <a:t>3.0)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72">
                <a:latin typeface="Lucida Grande"/>
                <a:cs typeface="Lucida Grande"/>
              </a:rPr>
              <a:t> </a:t>
            </a:r>
            <a:r>
              <a:rPr dirty="0" sz="1100" spc="-45">
                <a:latin typeface="Arial"/>
                <a:cs typeface="Arial"/>
              </a:rPr>
              <a:t>pytest-</a:t>
            </a:r>
            <a:r>
              <a:rPr dirty="0" sz="1100" spc="-10">
                <a:latin typeface="Arial"/>
                <a:cs typeface="Arial"/>
              </a:rPr>
              <a:t>django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85898" y="1244470"/>
            <a:ext cx="1790700" cy="14579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b="1">
                <a:latin typeface="Arial"/>
                <a:cs typeface="Arial"/>
              </a:rPr>
              <a:t>Key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Metrics: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4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20">
                <a:latin typeface="Lucida Grande"/>
                <a:cs typeface="Lucida Grande"/>
              </a:rPr>
              <a:t> </a:t>
            </a:r>
            <a:r>
              <a:rPr dirty="0" sz="1100">
                <a:latin typeface="Arial"/>
                <a:cs typeface="Arial"/>
              </a:rPr>
              <a:t>4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60">
                <a:latin typeface="Arial"/>
                <a:cs typeface="Arial"/>
              </a:rPr>
              <a:t>database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models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12">
                <a:latin typeface="Lucida Grande"/>
                <a:cs typeface="Lucida Grande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25">
                <a:latin typeface="Arial"/>
                <a:cs typeface="Arial"/>
              </a:rPr>
              <a:t> endpoint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categories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97">
                <a:latin typeface="Lucida Grande"/>
                <a:cs typeface="Lucida Grande"/>
              </a:rPr>
              <a:t> </a:t>
            </a:r>
            <a:r>
              <a:rPr dirty="0" sz="1100" spc="-10">
                <a:latin typeface="Arial"/>
                <a:cs typeface="Arial"/>
              </a:rPr>
              <a:t>36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API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endpoints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97">
                <a:latin typeface="Lucida Grande"/>
                <a:cs typeface="Lucida Grande"/>
              </a:rPr>
              <a:t> </a:t>
            </a:r>
            <a:r>
              <a:rPr dirty="0" sz="1100" spc="-70">
                <a:latin typeface="Arial"/>
                <a:cs typeface="Arial"/>
              </a:rPr>
              <a:t>Comprehensive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suite</a:t>
            </a:r>
            <a:endParaRPr sz="1100">
              <a:latin typeface="Arial"/>
              <a:cs typeface="Arial"/>
            </a:endParaRPr>
          </a:p>
          <a:p>
            <a:pPr marL="314960" marR="60579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75">
                <a:latin typeface="Lucida Grande"/>
                <a:cs typeface="Lucida Grande"/>
              </a:rPr>
              <a:t> </a:t>
            </a:r>
            <a:r>
              <a:rPr dirty="0" sz="1100">
                <a:latin typeface="Arial"/>
                <a:cs typeface="Arial"/>
              </a:rPr>
              <a:t>Full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OpenAPI </a:t>
            </a:r>
            <a:r>
              <a:rPr dirty="0" sz="1100" spc="-45">
                <a:latin typeface="Arial"/>
                <a:cs typeface="Arial"/>
              </a:rPr>
              <a:t>documentation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Version</a:t>
            </a:r>
            <a:r>
              <a:rPr dirty="0" sz="600" spc="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Control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515363"/>
            <a:ext cx="191071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V</a:t>
            </a:r>
            <a:r>
              <a:rPr dirty="0" spc="-65"/>
              <a:t>ersion</a:t>
            </a:r>
            <a:r>
              <a:rPr dirty="0" spc="-10"/>
              <a:t> Control</a:t>
            </a:r>
            <a:r>
              <a:rPr dirty="0" spc="-5"/>
              <a:t> </a:t>
            </a:r>
            <a:r>
              <a:rPr dirty="0" spc="-50"/>
              <a:t>Practices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34594" y="740915"/>
            <a:ext cx="3302000" cy="149987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r>
              <a:rPr dirty="0" sz="1100" spc="-40" b="1">
                <a:latin typeface="Arial"/>
                <a:cs typeface="Arial"/>
              </a:rPr>
              <a:t>Branching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Strategy: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8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42">
                <a:latin typeface="Lucida Grande"/>
                <a:cs typeface="Lucida Grande"/>
              </a:rPr>
              <a:t> </a:t>
            </a:r>
            <a:r>
              <a:rPr dirty="0" sz="1100" spc="-20" b="1">
                <a:latin typeface="Arial"/>
                <a:cs typeface="Arial"/>
              </a:rPr>
              <a:t>main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Production-</a:t>
            </a:r>
            <a:r>
              <a:rPr dirty="0" sz="1100" spc="-25">
                <a:latin typeface="Arial"/>
                <a:cs typeface="Arial"/>
              </a:rPr>
              <a:t>ready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code,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stable</a:t>
            </a:r>
            <a:r>
              <a:rPr dirty="0" sz="1100" spc="-10">
                <a:latin typeface="Arial"/>
                <a:cs typeface="Arial"/>
              </a:rPr>
              <a:t> releases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20">
                <a:latin typeface="Lucida Grande"/>
                <a:cs typeface="Lucida Grande"/>
              </a:rPr>
              <a:t> </a:t>
            </a:r>
            <a:r>
              <a:rPr dirty="0" sz="1100" spc="-25" b="1">
                <a:latin typeface="Arial"/>
                <a:cs typeface="Arial"/>
              </a:rPr>
              <a:t>dev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Feature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55">
                <a:latin typeface="Arial"/>
                <a:cs typeface="Arial"/>
              </a:rPr>
              <a:t>development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integration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57">
                <a:latin typeface="Lucida Grande"/>
                <a:cs typeface="Lucida Grande"/>
              </a:rPr>
              <a:t> </a:t>
            </a:r>
            <a:r>
              <a:rPr dirty="0" sz="1100" b="1">
                <a:latin typeface="Arial"/>
                <a:cs typeface="Arial"/>
              </a:rPr>
              <a:t>test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Testing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40">
                <a:latin typeface="Arial"/>
                <a:cs typeface="Arial"/>
              </a:rPr>
              <a:t>and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validation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before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65">
                <a:latin typeface="Arial"/>
                <a:cs typeface="Arial"/>
              </a:rPr>
              <a:t>merge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 </a:t>
            </a:r>
            <a:r>
              <a:rPr dirty="0" sz="1100" spc="-20">
                <a:latin typeface="Arial"/>
                <a:cs typeface="Arial"/>
              </a:rPr>
              <a:t>main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50"/>
              </a:spcBef>
            </a:pPr>
            <a:r>
              <a:rPr dirty="0" sz="1100" spc="-10" b="1">
                <a:latin typeface="Arial"/>
                <a:cs typeface="Arial"/>
              </a:rPr>
              <a:t>Workflow:</a:t>
            </a:r>
            <a:endParaRPr sz="1100">
              <a:latin typeface="Arial"/>
              <a:cs typeface="Arial"/>
            </a:endParaRPr>
          </a:p>
          <a:p>
            <a:pPr marL="301625" indent="-176530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301625" algn="l"/>
              </a:tabLst>
            </a:pPr>
            <a:r>
              <a:rPr dirty="0" sz="1100" spc="-55">
                <a:latin typeface="Arial"/>
                <a:cs typeface="Arial"/>
              </a:rPr>
              <a:t>Develop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features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0">
                <a:latin typeface="Courier New"/>
                <a:cs typeface="Courier New"/>
              </a:rPr>
              <a:t>dev</a:t>
            </a:r>
            <a:r>
              <a:rPr dirty="0" sz="1100" spc="-300">
                <a:latin typeface="Courier New"/>
                <a:cs typeface="Courier New"/>
              </a:rPr>
              <a:t> </a:t>
            </a:r>
            <a:r>
              <a:rPr dirty="0" sz="1100" spc="-10">
                <a:latin typeface="Arial"/>
                <a:cs typeface="Arial"/>
              </a:rPr>
              <a:t>branch</a:t>
            </a:r>
            <a:endParaRPr sz="1100">
              <a:latin typeface="Arial"/>
              <a:cs typeface="Arial"/>
            </a:endParaRPr>
          </a:p>
          <a:p>
            <a:pPr marL="301625" indent="-17653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301625" algn="l"/>
              </a:tabLst>
            </a:pPr>
            <a:r>
              <a:rPr dirty="0" sz="1100" spc="-40">
                <a:latin typeface="Arial"/>
                <a:cs typeface="Arial"/>
              </a:rPr>
              <a:t>Merge</a:t>
            </a:r>
            <a:r>
              <a:rPr dirty="0" sz="1100">
                <a:latin typeface="Arial"/>
                <a:cs typeface="Arial"/>
              </a:rPr>
              <a:t> to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0">
                <a:latin typeface="Courier New"/>
                <a:cs typeface="Courier New"/>
              </a:rPr>
              <a:t>test</a:t>
            </a:r>
            <a:r>
              <a:rPr dirty="0" sz="1100" spc="-300"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validation</a:t>
            </a:r>
            <a:endParaRPr sz="1100">
              <a:latin typeface="Arial"/>
              <a:cs typeface="Arial"/>
            </a:endParaRPr>
          </a:p>
          <a:p>
            <a:pPr marL="301625" indent="-17653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301625" algn="l"/>
              </a:tabLst>
            </a:pPr>
            <a:r>
              <a:rPr dirty="0" sz="1100" spc="-10">
                <a:latin typeface="Arial"/>
                <a:cs typeface="Arial"/>
              </a:rPr>
              <a:t>Final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65">
                <a:latin typeface="Arial"/>
                <a:cs typeface="Arial"/>
              </a:rPr>
              <a:t>merge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0">
                <a:latin typeface="Courier New"/>
                <a:cs typeface="Courier New"/>
              </a:rPr>
              <a:t>main</a:t>
            </a:r>
            <a:r>
              <a:rPr dirty="0" sz="1100" spc="-300"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after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testing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645" y="2346418"/>
            <a:ext cx="3264858" cy="1035540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API</a:t>
            </a:r>
            <a:r>
              <a:rPr dirty="0" sz="600" spc="7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Documentation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API</a:t>
            </a:r>
            <a:r>
              <a:rPr dirty="0" spc="10"/>
              <a:t> </a:t>
            </a:r>
            <a:r>
              <a:rPr dirty="0" spc="-35"/>
              <a:t>Documentation</a:t>
            </a:r>
            <a:r>
              <a:rPr dirty="0" spc="20"/>
              <a:t> </a:t>
            </a:r>
            <a:r>
              <a:rPr dirty="0" spc="-50"/>
              <a:t>Overview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724344" y="3098292"/>
            <a:ext cx="40005" cy="0"/>
          </a:xfrm>
          <a:custGeom>
            <a:avLst/>
            <a:gdLst/>
            <a:ahLst/>
            <a:cxnLst/>
            <a:rect l="l" t="t" r="r" b="b"/>
            <a:pathLst>
              <a:path w="40004" h="0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89204" y="877841"/>
            <a:ext cx="1755139" cy="2261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76327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Interactive </a:t>
            </a:r>
            <a:r>
              <a:rPr dirty="0" sz="1000" spc="-30" b="1">
                <a:latin typeface="Arial"/>
                <a:cs typeface="Arial"/>
              </a:rPr>
              <a:t>Documentation:</a:t>
            </a:r>
            <a:endParaRPr sz="1000">
              <a:latin typeface="Arial"/>
              <a:cs typeface="Arial"/>
            </a:endParaRPr>
          </a:p>
          <a:p>
            <a:pPr marL="179705">
              <a:lnSpc>
                <a:spcPts val="955"/>
              </a:lnSpc>
              <a:spcBef>
                <a:spcPts val="540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292">
                <a:latin typeface="Lucida Grande"/>
                <a:cs typeface="Lucida Grande"/>
              </a:rPr>
              <a:t> </a:t>
            </a:r>
            <a:r>
              <a:rPr dirty="0" sz="800" spc="-35" b="1">
                <a:latin typeface="Arial"/>
                <a:cs typeface="Arial"/>
              </a:rPr>
              <a:t>Swagger</a:t>
            </a:r>
            <a:r>
              <a:rPr dirty="0" sz="800" spc="15" b="1">
                <a:latin typeface="Arial"/>
                <a:cs typeface="Arial"/>
              </a:rPr>
              <a:t> </a:t>
            </a:r>
            <a:r>
              <a:rPr dirty="0" sz="800" spc="-25" b="1">
                <a:latin typeface="Arial"/>
                <a:cs typeface="Arial"/>
              </a:rPr>
              <a:t>UI:</a:t>
            </a:r>
            <a:endParaRPr sz="800">
              <a:latin typeface="Arial"/>
              <a:cs typeface="Arial"/>
            </a:endParaRPr>
          </a:p>
          <a:p>
            <a:pPr marL="327660">
              <a:lnSpc>
                <a:spcPts val="955"/>
              </a:lnSpc>
            </a:pPr>
            <a:r>
              <a:rPr dirty="0" sz="800" spc="-25">
                <a:latin typeface="Courier New"/>
                <a:cs typeface="Courier New"/>
              </a:rPr>
              <a:t>/api/v1/docs/swagger/</a:t>
            </a:r>
            <a:endParaRPr sz="800">
              <a:latin typeface="Courier New"/>
              <a:cs typeface="Courier New"/>
            </a:endParaRPr>
          </a:p>
          <a:p>
            <a:pPr marL="179705">
              <a:lnSpc>
                <a:spcPts val="955"/>
              </a:lnSpc>
              <a:spcBef>
                <a:spcPts val="3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284">
                <a:latin typeface="Lucida Grande"/>
                <a:cs typeface="Lucida Grande"/>
              </a:rPr>
              <a:t> </a:t>
            </a:r>
            <a:r>
              <a:rPr dirty="0" sz="800" spc="-10" b="1">
                <a:latin typeface="Arial"/>
                <a:cs typeface="Arial"/>
              </a:rPr>
              <a:t>ReDoc:</a:t>
            </a:r>
            <a:endParaRPr sz="800">
              <a:latin typeface="Arial"/>
              <a:cs typeface="Arial"/>
            </a:endParaRPr>
          </a:p>
          <a:p>
            <a:pPr marL="327660">
              <a:lnSpc>
                <a:spcPts val="955"/>
              </a:lnSpc>
            </a:pPr>
            <a:r>
              <a:rPr dirty="0" sz="800" spc="-20">
                <a:latin typeface="Courier New"/>
                <a:cs typeface="Courier New"/>
              </a:rPr>
              <a:t>/api/v1/docs/redoc/</a:t>
            </a:r>
            <a:endParaRPr sz="800">
              <a:latin typeface="Courier New"/>
              <a:cs typeface="Courier New"/>
            </a:endParaRPr>
          </a:p>
          <a:p>
            <a:pPr marL="179705">
              <a:lnSpc>
                <a:spcPts val="955"/>
              </a:lnSpc>
              <a:spcBef>
                <a:spcPts val="3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00">
                <a:latin typeface="Lucida Grande"/>
                <a:cs typeface="Lucida Grande"/>
              </a:rPr>
              <a:t> </a:t>
            </a:r>
            <a:r>
              <a:rPr dirty="0" sz="800" b="1">
                <a:latin typeface="Arial"/>
                <a:cs typeface="Arial"/>
              </a:rPr>
              <a:t>OpenAPI</a:t>
            </a:r>
            <a:r>
              <a:rPr dirty="0" sz="800" spc="2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Schema:</a:t>
            </a:r>
            <a:endParaRPr sz="800">
              <a:latin typeface="Arial"/>
              <a:cs typeface="Arial"/>
            </a:endParaRPr>
          </a:p>
          <a:p>
            <a:pPr marL="327660">
              <a:lnSpc>
                <a:spcPts val="955"/>
              </a:lnSpc>
            </a:pPr>
            <a:r>
              <a:rPr dirty="0" sz="800" spc="-20">
                <a:latin typeface="Courier New"/>
                <a:cs typeface="Courier New"/>
              </a:rPr>
              <a:t>/api/v1/docs/schema/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50800" marR="802640">
              <a:lnSpc>
                <a:spcPct val="100000"/>
              </a:lnSpc>
            </a:pPr>
            <a:r>
              <a:rPr dirty="0" sz="1000" spc="-30" b="1">
                <a:latin typeface="Arial"/>
                <a:cs typeface="Arial"/>
              </a:rPr>
              <a:t>Documentation </a:t>
            </a:r>
            <a:r>
              <a:rPr dirty="0" sz="1000" spc="-10" b="1">
                <a:latin typeface="Arial"/>
                <a:cs typeface="Arial"/>
              </a:rPr>
              <a:t>Files:</a:t>
            </a:r>
            <a:endParaRPr sz="1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latin typeface="Lucida Grande"/>
                <a:cs typeface="Lucida Grande"/>
              </a:rPr>
              <a:t>▶</a:t>
            </a:r>
            <a:r>
              <a:rPr dirty="0" baseline="5555" sz="1500" spc="165">
                <a:latin typeface="Lucida Grande"/>
                <a:cs typeface="Lucida Grande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openapi.yaml</a:t>
            </a:r>
            <a:endParaRPr sz="1000">
              <a:latin typeface="Courier New"/>
              <a:cs typeface="Courier New"/>
            </a:endParaRPr>
          </a:p>
          <a:p>
            <a:pPr marL="160020">
              <a:lnSpc>
                <a:spcPct val="100000"/>
              </a:lnSpc>
              <a:spcBef>
                <a:spcPts val="270"/>
              </a:spcBef>
            </a:pPr>
            <a:r>
              <a:rPr dirty="0" sz="1000" spc="-110">
                <a:latin typeface="Lucida Grande"/>
                <a:cs typeface="Lucida Grande"/>
              </a:rPr>
              <a:t>▶</a:t>
            </a:r>
            <a:endParaRPr sz="1000">
              <a:latin typeface="Lucida Grande"/>
              <a:cs typeface="Lucida Grande"/>
            </a:endParaRPr>
          </a:p>
          <a:p>
            <a:pPr marL="327660">
              <a:lnSpc>
                <a:spcPct val="100000"/>
              </a:lnSpc>
              <a:spcBef>
                <a:spcPts val="120"/>
              </a:spcBef>
            </a:pPr>
            <a:r>
              <a:rPr dirty="0" sz="1000" spc="-85">
                <a:latin typeface="Courier New"/>
                <a:cs typeface="Courier New"/>
              </a:rPr>
              <a:t>api</a:t>
            </a:r>
            <a:r>
              <a:rPr dirty="0" sz="1000" spc="-204">
                <a:latin typeface="Courier New"/>
                <a:cs typeface="Courier New"/>
              </a:rPr>
              <a:t> </a:t>
            </a:r>
            <a:r>
              <a:rPr dirty="0" sz="1000" spc="-65">
                <a:latin typeface="Courier New"/>
                <a:cs typeface="Courier New"/>
              </a:rPr>
              <a:t>documentation.pdf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6415" y="1067676"/>
            <a:ext cx="1306269" cy="113092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1652" y="1564493"/>
            <a:ext cx="1306311" cy="63410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6415" y="2286960"/>
            <a:ext cx="1306270" cy="70344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61652" y="2247212"/>
            <a:ext cx="1306190" cy="743192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API</a:t>
            </a:r>
            <a:r>
              <a:rPr dirty="0" sz="600" spc="7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Endpoints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API</a:t>
            </a:r>
            <a:r>
              <a:rPr dirty="0" spc="-35"/>
              <a:t> Endpoints </a:t>
            </a:r>
            <a:r>
              <a:rPr dirty="0" spc="-10"/>
              <a:t>by</a:t>
            </a:r>
            <a:r>
              <a:rPr dirty="0" spc="-30"/>
              <a:t> </a:t>
            </a:r>
            <a:r>
              <a:rPr dirty="0" spc="-55"/>
              <a:t>Category</a:t>
            </a: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10488" y="1045337"/>
          <a:ext cx="3463290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544"/>
                <a:gridCol w="502919"/>
                <a:gridCol w="1951355"/>
              </a:tblGrid>
              <a:tr h="225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Category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Count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b="1"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10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b="1">
                          <a:latin typeface="Arial"/>
                          <a:cs typeface="Arial"/>
                        </a:rPr>
                        <a:t>Endpoints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Authentication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30">
                          <a:latin typeface="Arial"/>
                          <a:cs typeface="Arial"/>
                        </a:rPr>
                        <a:t>register,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token,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refresh,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profile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Tasks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11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CRUD,</a:t>
                      </a:r>
                      <a:r>
                        <a:rPr dirty="0" sz="1000" spc="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complete,</a:t>
                      </a:r>
                      <a:r>
                        <a:rPr dirty="0" sz="1000" spc="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reopen,</a:t>
                      </a:r>
                      <a:r>
                        <a:rPr dirty="0" sz="10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today,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overdue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Categories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30">
                          <a:latin typeface="Arial"/>
                          <a:cs typeface="Arial"/>
                        </a:rPr>
                        <a:t>CRUD,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statistics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0">
                          <a:latin typeface="Arial"/>
                          <a:cs typeface="Arial"/>
                        </a:rPr>
                        <a:t>Tags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0">
                          <a:latin typeface="Arial"/>
                          <a:cs typeface="Arial"/>
                        </a:rPr>
                        <a:t>CRUD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Analytics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dashboard,</a:t>
                      </a:r>
                      <a:r>
                        <a:rPr dirty="0" sz="10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tasks,</a:t>
                      </a:r>
                      <a:r>
                        <a:rPr dirty="0" sz="10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trends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81610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MCP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050"/>
                        </a:lnSpc>
                      </a:pPr>
                      <a:r>
                        <a:rPr dirty="0" sz="1000" spc="-30">
                          <a:latin typeface="Arial"/>
                          <a:cs typeface="Arial"/>
                        </a:rPr>
                        <a:t>capabilities,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tools,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execute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Total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000" spc="-25" b="1">
                          <a:latin typeface="Arial"/>
                          <a:cs typeface="Arial"/>
                        </a:rPr>
                        <a:t>36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347294" y="2779749"/>
            <a:ext cx="3601720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5" b="1">
                <a:latin typeface="Arial"/>
                <a:cs typeface="Arial"/>
              </a:rPr>
              <a:t>HTTP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Methods: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GET, POST, </a:t>
            </a:r>
            <a:r>
              <a:rPr dirty="0" sz="1100">
                <a:latin typeface="Arial"/>
                <a:cs typeface="Arial"/>
              </a:rPr>
              <a:t>PUT,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40">
                <a:latin typeface="Arial"/>
                <a:cs typeface="Arial"/>
              </a:rPr>
              <a:t>PATCH,</a:t>
            </a:r>
            <a:r>
              <a:rPr dirty="0" sz="1100" spc="-10">
                <a:latin typeface="Arial"/>
                <a:cs typeface="Arial"/>
              </a:rPr>
              <a:t> DELETE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b="1">
                <a:latin typeface="Arial"/>
                <a:cs typeface="Arial"/>
              </a:rPr>
              <a:t>API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Versioning:</a:t>
            </a:r>
            <a:r>
              <a:rPr dirty="0" sz="1100" spc="155" b="1">
                <a:latin typeface="Arial"/>
                <a:cs typeface="Arial"/>
              </a:rPr>
              <a:t> </a:t>
            </a:r>
            <a:r>
              <a:rPr dirty="0" sz="1100" spc="-100">
                <a:latin typeface="Courier New"/>
                <a:cs typeface="Courier New"/>
              </a:rPr>
              <a:t>/api/v1/</a:t>
            </a:r>
            <a:r>
              <a:rPr dirty="0" sz="1100" spc="-300">
                <a:latin typeface="Courier New"/>
                <a:cs typeface="Courier New"/>
              </a:rPr>
              <a:t> </a:t>
            </a:r>
            <a:r>
              <a:rPr dirty="0" sz="1100" spc="-25">
                <a:latin typeface="Arial"/>
                <a:cs typeface="Arial"/>
              </a:rPr>
              <a:t>prefix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-55">
                <a:latin typeface="Arial"/>
                <a:cs typeface="Arial"/>
              </a:rPr>
              <a:t>backward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compatibility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Technical</a:t>
            </a:r>
            <a:r>
              <a:rPr dirty="0" sz="600" spc="3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Highlights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515363"/>
            <a:ext cx="20866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T</a:t>
            </a:r>
            <a:r>
              <a:rPr dirty="0" spc="-50"/>
              <a:t>echnical</a:t>
            </a:r>
            <a:r>
              <a:rPr dirty="0" spc="-25"/>
              <a:t> </a:t>
            </a:r>
            <a:r>
              <a:rPr dirty="0" spc="-30"/>
              <a:t>Report </a:t>
            </a:r>
            <a:r>
              <a:rPr dirty="0" spc="-25"/>
              <a:t>Highlights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14604" y="750008"/>
            <a:ext cx="1956435" cy="10382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latin typeface="Arial"/>
                <a:cs typeface="Arial"/>
              </a:rPr>
              <a:t>Architecture: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65">
                <a:latin typeface="Lucida Grande"/>
                <a:cs typeface="Lucida Grande"/>
              </a:rPr>
              <a:t> </a:t>
            </a:r>
            <a:r>
              <a:rPr dirty="0" sz="1100" spc="-75">
                <a:latin typeface="Arial"/>
                <a:cs typeface="Arial"/>
              </a:rPr>
              <a:t>Layered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design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65">
                <a:latin typeface="Lucida Grande"/>
                <a:cs typeface="Lucida Grande"/>
              </a:rPr>
              <a:t> </a:t>
            </a:r>
            <a:r>
              <a:rPr dirty="0" sz="1100" spc="-55">
                <a:latin typeface="Arial"/>
                <a:cs typeface="Arial"/>
              </a:rPr>
              <a:t>Views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→ </a:t>
            </a:r>
            <a:r>
              <a:rPr dirty="0" sz="1100" spc="-55">
                <a:latin typeface="Arial"/>
                <a:cs typeface="Arial"/>
              </a:rPr>
              <a:t>Serializers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→</a:t>
            </a:r>
            <a:endParaRPr sz="11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Arial"/>
                <a:cs typeface="Arial"/>
              </a:rPr>
              <a:t>Models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57">
                <a:latin typeface="Lucida Grande"/>
                <a:cs typeface="Lucida Grande"/>
              </a:rPr>
              <a:t> </a:t>
            </a:r>
            <a:r>
              <a:rPr dirty="0" sz="1100" spc="-60">
                <a:latin typeface="Arial"/>
                <a:cs typeface="Arial"/>
              </a:rPr>
              <a:t>Clear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separation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concerns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1904" y="1870212"/>
            <a:ext cx="1985010" cy="14198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latin typeface="Arial"/>
                <a:cs typeface="Arial"/>
              </a:rPr>
              <a:t>Security:</a:t>
            </a:r>
            <a:endParaRPr sz="1100">
              <a:latin typeface="Arial"/>
              <a:cs typeface="Arial"/>
            </a:endParaRPr>
          </a:p>
          <a:p>
            <a:pPr marL="314960" marR="42545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225">
                <a:latin typeface="Lucida Grande"/>
                <a:cs typeface="Lucida Grande"/>
              </a:rPr>
              <a:t> </a:t>
            </a:r>
            <a:r>
              <a:rPr dirty="0" sz="1100">
                <a:latin typeface="Arial"/>
                <a:cs typeface="Arial"/>
              </a:rPr>
              <a:t>JWT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authentication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(60min </a:t>
            </a:r>
            <a:r>
              <a:rPr dirty="0" sz="1100" spc="-10">
                <a:latin typeface="Arial"/>
                <a:cs typeface="Arial"/>
              </a:rPr>
              <a:t>access)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57">
                <a:latin typeface="Lucida Grande"/>
                <a:cs typeface="Lucida Grande"/>
              </a:rPr>
              <a:t> </a:t>
            </a:r>
            <a:r>
              <a:rPr dirty="0" sz="1100" spc="-50">
                <a:latin typeface="Arial"/>
                <a:cs typeface="Arial"/>
              </a:rPr>
              <a:t>Token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refresh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85">
                <a:latin typeface="Arial"/>
                <a:cs typeface="Arial"/>
              </a:rPr>
              <a:t>&amp;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blacklisting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04">
                <a:latin typeface="Lucida Grande"/>
                <a:cs typeface="Lucida Grande"/>
              </a:rPr>
              <a:t> </a:t>
            </a:r>
            <a:r>
              <a:rPr dirty="0" sz="1100" spc="-35">
                <a:latin typeface="Arial"/>
                <a:cs typeface="Arial"/>
              </a:rPr>
              <a:t>Rate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limiting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(100/1000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per </a:t>
            </a:r>
            <a:r>
              <a:rPr dirty="0" sz="1100" spc="-10">
                <a:latin typeface="Arial"/>
                <a:cs typeface="Arial"/>
              </a:rPr>
              <a:t>hour)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75">
                <a:latin typeface="Lucida Grande"/>
                <a:cs typeface="Lucida Grande"/>
              </a:rPr>
              <a:t> </a:t>
            </a:r>
            <a:r>
              <a:rPr dirty="0" sz="1100" spc="-60">
                <a:latin typeface="Arial"/>
                <a:cs typeface="Arial"/>
              </a:rPr>
              <a:t>User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data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isolation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85898" y="922081"/>
            <a:ext cx="1449070" cy="10382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20" b="1">
                <a:latin typeface="Arial"/>
                <a:cs typeface="Arial"/>
              </a:rPr>
              <a:t>Database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Design: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4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89">
                <a:latin typeface="Lucida Grande"/>
                <a:cs typeface="Lucida Grande"/>
              </a:rPr>
              <a:t> </a:t>
            </a:r>
            <a:r>
              <a:rPr dirty="0" sz="1100">
                <a:latin typeface="Arial"/>
                <a:cs typeface="Arial"/>
              </a:rPr>
              <a:t>UUID</a:t>
            </a:r>
            <a:r>
              <a:rPr dirty="0" sz="1100" spc="-30">
                <a:latin typeface="Arial"/>
                <a:cs typeface="Arial"/>
              </a:rPr>
              <a:t> primary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keys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12">
                <a:latin typeface="Lucida Grande"/>
                <a:cs typeface="Lucida Grande"/>
              </a:rPr>
              <a:t> </a:t>
            </a:r>
            <a:r>
              <a:rPr dirty="0" sz="1100" spc="-25">
                <a:latin typeface="Arial"/>
                <a:cs typeface="Arial"/>
              </a:rPr>
              <a:t>Optimized </a:t>
            </a:r>
            <a:r>
              <a:rPr dirty="0" sz="1100" spc="-10">
                <a:latin typeface="Arial"/>
                <a:cs typeface="Arial"/>
              </a:rPr>
              <a:t>indexes</a:t>
            </a:r>
            <a:endParaRPr sz="1100">
              <a:latin typeface="Arial"/>
              <a:cs typeface="Arial"/>
            </a:endParaRPr>
          </a:p>
          <a:p>
            <a:pPr marL="314960" marR="67945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65">
                <a:latin typeface="Lucida Grande"/>
                <a:cs typeface="Lucida Grande"/>
              </a:rPr>
              <a:t> </a:t>
            </a:r>
            <a:r>
              <a:rPr dirty="0" sz="1100" spc="-50">
                <a:latin typeface="Arial"/>
                <a:cs typeface="Arial"/>
              </a:rPr>
              <a:t>Self-</a:t>
            </a:r>
            <a:r>
              <a:rPr dirty="0" sz="1100" spc="-35">
                <a:latin typeface="Arial"/>
                <a:cs typeface="Arial"/>
              </a:rPr>
              <a:t>referential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FK </a:t>
            </a:r>
            <a:r>
              <a:rPr dirty="0" sz="1100" spc="-10">
                <a:latin typeface="Arial"/>
                <a:cs typeface="Arial"/>
              </a:rPr>
              <a:t>(subtasks)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85898" y="2042284"/>
            <a:ext cx="1802764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latin typeface="Arial"/>
                <a:cs typeface="Arial"/>
              </a:rPr>
              <a:t>Testing: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4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42">
                <a:latin typeface="Lucida Grande"/>
                <a:cs typeface="Lucida Grande"/>
              </a:rPr>
              <a:t> </a:t>
            </a:r>
            <a:r>
              <a:rPr dirty="0" sz="1100" spc="-45">
                <a:latin typeface="Arial"/>
                <a:cs typeface="Arial"/>
              </a:rPr>
              <a:t>pytest-</a:t>
            </a:r>
            <a:r>
              <a:rPr dirty="0" sz="1100" spc="-25">
                <a:latin typeface="Arial"/>
                <a:cs typeface="Arial"/>
              </a:rPr>
              <a:t>django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framework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04">
                <a:latin typeface="Lucida Grande"/>
                <a:cs typeface="Lucida Grande"/>
              </a:rPr>
              <a:t> </a:t>
            </a:r>
            <a:r>
              <a:rPr dirty="0" sz="1100" spc="-75">
                <a:latin typeface="Arial"/>
                <a:cs typeface="Arial"/>
              </a:rPr>
              <a:t>Reusable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fixtures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42">
                <a:latin typeface="Lucida Grande"/>
                <a:cs typeface="Lucida Grande"/>
              </a:rPr>
              <a:t> </a:t>
            </a:r>
            <a:r>
              <a:rPr dirty="0" sz="1100" spc="-20">
                <a:latin typeface="Arial"/>
                <a:cs typeface="Arial"/>
              </a:rPr>
              <a:t>Integration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testing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27">
                <a:latin typeface="Lucida Grande"/>
                <a:cs typeface="Lucida Grande"/>
              </a:rPr>
              <a:t> </a:t>
            </a:r>
            <a:r>
              <a:rPr dirty="0" sz="1100" spc="-20">
                <a:latin typeface="Arial"/>
                <a:cs typeface="Arial"/>
              </a:rPr>
              <a:t>Authentication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flow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tests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AI</a:t>
            </a:r>
            <a:r>
              <a:rPr dirty="0" sz="600" spc="6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Integration</a:t>
            </a:r>
            <a:r>
              <a:rPr dirty="0" sz="600" spc="6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80">
                <a:latin typeface="Arial"/>
                <a:cs typeface="Arial"/>
                <a:hlinkClick r:id="rId3" action="ppaction://hlinksldjump"/>
              </a:rPr>
              <a:t>&amp;</a:t>
            </a:r>
            <a:r>
              <a:rPr dirty="0" sz="600" spc="6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3" action="ppaction://hlinksldjump"/>
              </a:rPr>
              <a:t>MCP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515363"/>
            <a:ext cx="16935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AI</a:t>
            </a:r>
            <a:r>
              <a:rPr dirty="0" spc="50"/>
              <a:t> </a:t>
            </a:r>
            <a:r>
              <a:rPr dirty="0" spc="-25"/>
              <a:t>Integration</a:t>
            </a:r>
            <a:r>
              <a:rPr dirty="0" spc="55"/>
              <a:t> </a:t>
            </a:r>
            <a:r>
              <a:rPr dirty="0" spc="120"/>
              <a:t>&amp;</a:t>
            </a:r>
            <a:r>
              <a:rPr dirty="0" spc="55"/>
              <a:t> </a:t>
            </a:r>
            <a:r>
              <a:rPr dirty="0" spc="-25"/>
              <a:t>MCP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417106" y="1705673"/>
            <a:ext cx="3773804" cy="0"/>
          </a:xfrm>
          <a:custGeom>
            <a:avLst/>
            <a:gdLst/>
            <a:ahLst/>
            <a:cxnLst/>
            <a:rect l="l" t="t" r="r" b="b"/>
            <a:pathLst>
              <a:path w="3773804" h="0">
                <a:moveTo>
                  <a:pt x="0" y="0"/>
                </a:moveTo>
                <a:lnTo>
                  <a:pt x="377379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34594" y="720773"/>
            <a:ext cx="3539490" cy="117538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45"/>
              </a:spcBef>
            </a:pPr>
            <a:r>
              <a:rPr dirty="0" sz="1100" b="1">
                <a:latin typeface="Arial"/>
                <a:cs typeface="Arial"/>
              </a:rPr>
              <a:t>Model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Context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Protocol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40" b="1">
                <a:latin typeface="Arial"/>
                <a:cs typeface="Arial"/>
              </a:rPr>
              <a:t>(MCP):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240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35">
                <a:latin typeface="Lucida Grande"/>
                <a:cs typeface="Lucida Grande"/>
              </a:rPr>
              <a:t> </a:t>
            </a:r>
            <a:r>
              <a:rPr dirty="0" sz="1100" spc="-45">
                <a:latin typeface="Arial"/>
                <a:cs typeface="Arial"/>
              </a:rPr>
              <a:t>Emerging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standard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AI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agent</a:t>
            </a:r>
            <a:r>
              <a:rPr dirty="0" sz="1100" spc="-10">
                <a:latin typeface="Arial"/>
                <a:cs typeface="Arial"/>
              </a:rPr>
              <a:t> integration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225"/>
              </a:spcBef>
            </a:pPr>
            <a:r>
              <a:rPr dirty="0" baseline="5050" sz="1650">
                <a:latin typeface="Lucida Grande"/>
                <a:cs typeface="Lucida Grande"/>
              </a:rPr>
              <a:t>▶</a:t>
            </a:r>
            <a:r>
              <a:rPr dirty="0" baseline="5050" sz="1650" spc="195">
                <a:latin typeface="Lucida Grande"/>
                <a:cs typeface="Lucida Grande"/>
              </a:rPr>
              <a:t> </a:t>
            </a:r>
            <a:r>
              <a:rPr dirty="0" sz="1100" spc="-65">
                <a:latin typeface="Arial"/>
                <a:cs typeface="Arial"/>
              </a:rPr>
              <a:t>Enables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AI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55">
                <a:latin typeface="Arial"/>
                <a:cs typeface="Arial"/>
              </a:rPr>
              <a:t>assistants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55">
                <a:latin typeface="Arial"/>
                <a:cs typeface="Arial"/>
              </a:rPr>
              <a:t>discover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and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65">
                <a:latin typeface="Arial"/>
                <a:cs typeface="Arial"/>
              </a:rPr>
              <a:t>execute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API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tools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5"/>
              </a:spcBef>
            </a:pPr>
            <a:r>
              <a:rPr dirty="0" sz="1100" b="1">
                <a:latin typeface="Arial"/>
                <a:cs typeface="Arial"/>
              </a:rPr>
              <a:t>MCP</a:t>
            </a:r>
            <a:r>
              <a:rPr dirty="0" sz="1100" spc="2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Endpoints: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"/>
              <a:cs typeface="Arial"/>
            </a:endParaRPr>
          </a:p>
          <a:p>
            <a:pPr marL="158115">
              <a:lnSpc>
                <a:spcPct val="100000"/>
              </a:lnSpc>
              <a:tabLst>
                <a:tab pos="1505585" algn="l"/>
              </a:tabLst>
            </a:pPr>
            <a:r>
              <a:rPr dirty="0" sz="1000" spc="-10" b="1">
                <a:latin typeface="Arial"/>
                <a:cs typeface="Arial"/>
              </a:rPr>
              <a:t>Endpoint</a:t>
            </a:r>
            <a:r>
              <a:rPr dirty="0" sz="1000" b="1">
                <a:latin typeface="Arial"/>
                <a:cs typeface="Arial"/>
              </a:rPr>
              <a:t>	</a:t>
            </a:r>
            <a:r>
              <a:rPr dirty="0" sz="1000" spc="-10" b="1"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7106" y="1931162"/>
            <a:ext cx="3773804" cy="0"/>
          </a:xfrm>
          <a:custGeom>
            <a:avLst/>
            <a:gdLst/>
            <a:ahLst/>
            <a:cxnLst/>
            <a:rect l="l" t="t" r="r" b="b"/>
            <a:pathLst>
              <a:path w="3773804" h="0">
                <a:moveTo>
                  <a:pt x="0" y="0"/>
                </a:moveTo>
                <a:lnTo>
                  <a:pt x="377379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80313" y="1941708"/>
            <a:ext cx="122110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80">
                <a:latin typeface="Courier New"/>
                <a:cs typeface="Courier New"/>
              </a:rPr>
              <a:t>/mcp/capabilities/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95"/>
              </a:lnSpc>
            </a:pPr>
            <a:r>
              <a:rPr dirty="0" sz="1000" spc="-10">
                <a:latin typeface="Courier New"/>
                <a:cs typeface="Courier New"/>
              </a:rPr>
              <a:t>/mcp/tools/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00"/>
              </a:lnSpc>
            </a:pPr>
            <a:r>
              <a:rPr dirty="0" sz="1000" spc="-10">
                <a:latin typeface="Courier New"/>
                <a:cs typeface="Courier New"/>
              </a:rPr>
              <a:t>/mcp/execute/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27805" y="1941708"/>
            <a:ext cx="229997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Public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60">
                <a:latin typeface="Arial"/>
                <a:cs typeface="Arial"/>
              </a:rPr>
              <a:t>system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capability</a:t>
            </a:r>
            <a:r>
              <a:rPr dirty="0" sz="1000" spc="-10">
                <a:latin typeface="Arial"/>
                <a:cs typeface="Arial"/>
              </a:rPr>
              <a:t> description </a:t>
            </a:r>
            <a:r>
              <a:rPr dirty="0" sz="1000" spc="-35">
                <a:latin typeface="Arial"/>
                <a:cs typeface="Arial"/>
              </a:rPr>
              <a:t>Returns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available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tools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JSON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75">
                <a:latin typeface="Arial"/>
                <a:cs typeface="Arial"/>
              </a:rPr>
              <a:t>Schema </a:t>
            </a:r>
            <a:r>
              <a:rPr dirty="0" sz="1000" spc="-45">
                <a:latin typeface="Arial"/>
                <a:cs typeface="Arial"/>
              </a:rPr>
              <a:t>Execute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specified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tool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arguments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17106" y="2460320"/>
            <a:ext cx="3773804" cy="0"/>
          </a:xfrm>
          <a:custGeom>
            <a:avLst/>
            <a:gdLst/>
            <a:ahLst/>
            <a:cxnLst/>
            <a:rect l="l" t="t" r="r" b="b"/>
            <a:pathLst>
              <a:path w="3773804" h="0">
                <a:moveTo>
                  <a:pt x="0" y="0"/>
                </a:moveTo>
                <a:lnTo>
                  <a:pt x="377379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75791" y="2905899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68248" y="3064052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083348" y="3222206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14476" y="3380371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22057" y="3380371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21894" y="2529035"/>
            <a:ext cx="1139825" cy="887094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dirty="0" sz="1100" spc="-30" b="1">
                <a:latin typeface="Arial"/>
                <a:cs typeface="Arial"/>
              </a:rPr>
              <a:t>Available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Tools:</a:t>
            </a:r>
            <a:endParaRPr sz="1100">
              <a:latin typeface="Arial"/>
              <a:cs typeface="Arial"/>
            </a:endParaRPr>
          </a:p>
          <a:p>
            <a:pPr marL="176530">
              <a:lnSpc>
                <a:spcPct val="100000"/>
              </a:lnSpc>
              <a:spcBef>
                <a:spcPts val="32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52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create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task</a:t>
            </a:r>
            <a:endParaRPr sz="800">
              <a:latin typeface="Courier New"/>
              <a:cs typeface="Courier New"/>
            </a:endParaRPr>
          </a:p>
          <a:p>
            <a:pPr marL="176530">
              <a:lnSpc>
                <a:spcPct val="100000"/>
              </a:lnSpc>
              <a:spcBef>
                <a:spcPts val="2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30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list</a:t>
            </a:r>
            <a:r>
              <a:rPr dirty="0" sz="800" spc="-17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tasks</a:t>
            </a:r>
            <a:endParaRPr sz="800">
              <a:latin typeface="Courier New"/>
              <a:cs typeface="Courier New"/>
            </a:endParaRPr>
          </a:p>
          <a:p>
            <a:pPr marL="176530">
              <a:lnSpc>
                <a:spcPct val="100000"/>
              </a:lnSpc>
              <a:spcBef>
                <a:spcPts val="2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75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complete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task</a:t>
            </a:r>
            <a:endParaRPr sz="800">
              <a:latin typeface="Courier New"/>
              <a:cs typeface="Courier New"/>
            </a:endParaRPr>
          </a:p>
          <a:p>
            <a:pPr marL="176530">
              <a:lnSpc>
                <a:spcPct val="100000"/>
              </a:lnSpc>
              <a:spcBef>
                <a:spcPts val="2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75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get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today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tasks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2933674" y="2905899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348812" y="2905899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148761" y="3064052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3402584" y="3064052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933674" y="3222206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617683" y="3222206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094989" y="3380371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579801" y="2757818"/>
            <a:ext cx="1485265" cy="65849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97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get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overdue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tasks</a:t>
            </a:r>
            <a:endParaRPr sz="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405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suggest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next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task</a:t>
            </a:r>
            <a:endParaRPr sz="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434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get</a:t>
            </a:r>
            <a:r>
              <a:rPr dirty="0" sz="800" spc="-175">
                <a:latin typeface="Courier New"/>
                <a:cs typeface="Courier New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productivity</a:t>
            </a:r>
            <a:r>
              <a:rPr dirty="0" sz="800" spc="-175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summary</a:t>
            </a:r>
            <a:endParaRPr sz="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baseline="6944" sz="1200">
                <a:latin typeface="Lucida Grande"/>
                <a:cs typeface="Lucida Grande"/>
              </a:rPr>
              <a:t>▶</a:t>
            </a:r>
            <a:r>
              <a:rPr dirty="0" baseline="6944" sz="1200" spc="352">
                <a:latin typeface="Lucida Grande"/>
                <a:cs typeface="Lucida Grande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create</a:t>
            </a:r>
            <a:r>
              <a:rPr dirty="0" sz="800" spc="-18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category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  <a:hlinkClick r:id="rId3" action="ppaction://hlinksldjump"/>
              </a:rPr>
              <a:t>Deliverables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All</a:t>
            </a:r>
            <a:r>
              <a:rPr dirty="0" spc="105"/>
              <a:t> </a:t>
            </a:r>
            <a:r>
              <a:rPr dirty="0" spc="-65"/>
              <a:t>Deliverables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559879" y="935431"/>
            <a:ext cx="3488690" cy="0"/>
          </a:xfrm>
          <a:custGeom>
            <a:avLst/>
            <a:gdLst/>
            <a:ahLst/>
            <a:cxnLst/>
            <a:rect l="l" t="t" r="r" b="b"/>
            <a:pathLst>
              <a:path w="3488690" h="0">
                <a:moveTo>
                  <a:pt x="0" y="0"/>
                </a:moveTo>
                <a:lnTo>
                  <a:pt x="348824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23087" y="948047"/>
            <a:ext cx="664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 b="1">
                <a:latin typeface="Arial"/>
                <a:cs typeface="Arial"/>
              </a:rPr>
              <a:t>Deliverable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30148" y="948047"/>
            <a:ext cx="524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 b="1">
                <a:latin typeface="Arial"/>
                <a:cs typeface="Arial"/>
              </a:rPr>
              <a:t>Location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59879" y="1160919"/>
            <a:ext cx="3488690" cy="0"/>
          </a:xfrm>
          <a:custGeom>
            <a:avLst/>
            <a:gdLst/>
            <a:ahLst/>
            <a:cxnLst/>
            <a:rect l="l" t="t" r="r" b="b"/>
            <a:pathLst>
              <a:path w="3488690" h="0">
                <a:moveTo>
                  <a:pt x="0" y="0"/>
                </a:moveTo>
                <a:lnTo>
                  <a:pt x="3488245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23087" y="1171453"/>
            <a:ext cx="1081405" cy="784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65">
                <a:latin typeface="Arial"/>
                <a:cs typeface="Arial"/>
              </a:rPr>
              <a:t>Code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Repository </a:t>
            </a:r>
            <a:r>
              <a:rPr dirty="0" sz="1000">
                <a:latin typeface="Arial"/>
                <a:cs typeface="Arial"/>
              </a:rPr>
              <a:t>API </a:t>
            </a:r>
            <a:r>
              <a:rPr dirty="0" sz="1000" spc="-35">
                <a:latin typeface="Arial"/>
                <a:cs typeface="Arial"/>
              </a:rPr>
              <a:t>Documentation </a:t>
            </a:r>
            <a:r>
              <a:rPr dirty="0" sz="1000" spc="-30">
                <a:latin typeface="Arial"/>
                <a:cs typeface="Arial"/>
              </a:rPr>
              <a:t>OpenAPI </a:t>
            </a:r>
            <a:r>
              <a:rPr dirty="0" sz="1000" spc="-10">
                <a:latin typeface="Arial"/>
                <a:cs typeface="Arial"/>
              </a:rPr>
              <a:t>Schema </a:t>
            </a:r>
            <a:r>
              <a:rPr dirty="0" sz="1000" spc="-40">
                <a:latin typeface="Arial"/>
                <a:cs typeface="Arial"/>
              </a:rPr>
              <a:t>Technical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Report Presentation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050300" y="145997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0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448864" y="176364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0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dirty="0" spc="-35">
                <a:latin typeface="Arial"/>
                <a:cs typeface="Arial"/>
                <a:hlinkClick r:id="rId5"/>
              </a:rPr>
              <a:t>github.com/Ejkenway/COMP3011-</a:t>
            </a:r>
            <a:r>
              <a:rPr dirty="0" spc="-25">
                <a:latin typeface="Arial"/>
                <a:cs typeface="Arial"/>
                <a:hlinkClick r:id="rId5"/>
              </a:rPr>
              <a:t>CW1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 spc="-85"/>
              <a:t>api</a:t>
            </a:r>
            <a:r>
              <a:rPr dirty="0" spc="-210"/>
              <a:t> </a:t>
            </a:r>
            <a:r>
              <a:rPr dirty="0" spc="-30"/>
              <a:t>documentation.pdf </a:t>
            </a:r>
            <a:r>
              <a:rPr dirty="0" spc="-10"/>
              <a:t>openapi.yaml</a:t>
            </a:r>
          </a:p>
          <a:p>
            <a:pPr marL="12700" marR="824230" indent="-635">
              <a:lnSpc>
                <a:spcPts val="1200"/>
              </a:lnSpc>
              <a:spcBef>
                <a:spcPts val="25"/>
              </a:spcBef>
            </a:pPr>
            <a:r>
              <a:rPr dirty="0" spc="-85"/>
              <a:t>technical</a:t>
            </a:r>
            <a:r>
              <a:rPr dirty="0" spc="-165"/>
              <a:t> </a:t>
            </a:r>
            <a:r>
              <a:rPr dirty="0" spc="-85"/>
              <a:t>report.pdf </a:t>
            </a:r>
            <a:r>
              <a:rPr dirty="0" spc="-25"/>
              <a:t>presentation.pdf</a:t>
            </a:r>
          </a:p>
        </p:txBody>
      </p:sp>
      <p:sp>
        <p:nvSpPr>
          <p:cNvPr id="15" name="object 15" descr=""/>
          <p:cNvSpPr/>
          <p:nvPr/>
        </p:nvSpPr>
        <p:spPr>
          <a:xfrm>
            <a:off x="559879" y="1993722"/>
            <a:ext cx="3488690" cy="0"/>
          </a:xfrm>
          <a:custGeom>
            <a:avLst/>
            <a:gdLst/>
            <a:ahLst/>
            <a:cxnLst/>
            <a:rect l="l" t="t" r="r" b="b"/>
            <a:pathLst>
              <a:path w="3488690" h="0">
                <a:moveTo>
                  <a:pt x="0" y="0"/>
                </a:moveTo>
                <a:lnTo>
                  <a:pt x="348824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10767" y="319215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0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21894" y="2106517"/>
            <a:ext cx="2541905" cy="112649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spc="-40" b="1">
                <a:latin typeface="Arial"/>
                <a:cs typeface="Arial"/>
              </a:rPr>
              <a:t>Repository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Structure:</a:t>
            </a:r>
            <a:endParaRPr sz="10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latin typeface="Lucida Grande"/>
                <a:cs typeface="Lucida Grande"/>
              </a:rPr>
              <a:t>▶</a:t>
            </a:r>
            <a:r>
              <a:rPr dirty="0" baseline="5555" sz="1500" spc="142">
                <a:latin typeface="Lucida Grande"/>
                <a:cs typeface="Lucida Grande"/>
              </a:rPr>
              <a:t> </a:t>
            </a:r>
            <a:r>
              <a:rPr dirty="0" sz="1000" spc="-85">
                <a:latin typeface="Courier New"/>
                <a:cs typeface="Courier New"/>
              </a:rPr>
              <a:t>api/</a:t>
            </a:r>
            <a:r>
              <a:rPr dirty="0" sz="1000" spc="-270">
                <a:latin typeface="Courier New"/>
                <a:cs typeface="Courier New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API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views,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serializers,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URLs</a:t>
            </a:r>
            <a:endParaRPr sz="10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495"/>
              </a:spcBef>
            </a:pPr>
            <a:r>
              <a:rPr dirty="0" baseline="5555" sz="1500">
                <a:latin typeface="Lucida Grande"/>
                <a:cs typeface="Lucida Grande"/>
              </a:rPr>
              <a:t>▶</a:t>
            </a:r>
            <a:r>
              <a:rPr dirty="0" baseline="5555" sz="1500" spc="112">
                <a:latin typeface="Lucida Grande"/>
                <a:cs typeface="Lucida Grande"/>
              </a:rPr>
              <a:t> </a:t>
            </a:r>
            <a:r>
              <a:rPr dirty="0" sz="1000" spc="-85">
                <a:latin typeface="Courier New"/>
                <a:cs typeface="Courier New"/>
              </a:rPr>
              <a:t>core/</a:t>
            </a:r>
            <a:r>
              <a:rPr dirty="0" sz="1000" spc="-270">
                <a:latin typeface="Courier New"/>
                <a:cs typeface="Courier New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Models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and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admin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configuration</a:t>
            </a:r>
            <a:endParaRPr sz="10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495"/>
              </a:spcBef>
            </a:pPr>
            <a:r>
              <a:rPr dirty="0" baseline="5555" sz="1500">
                <a:latin typeface="Lucida Grande"/>
                <a:cs typeface="Lucida Grande"/>
              </a:rPr>
              <a:t>▶</a:t>
            </a:r>
            <a:r>
              <a:rPr dirty="0" baseline="5555" sz="1500" spc="150">
                <a:latin typeface="Lucida Grande"/>
                <a:cs typeface="Lucida Grande"/>
              </a:rPr>
              <a:t> </a:t>
            </a:r>
            <a:r>
              <a:rPr dirty="0" sz="1000" spc="-85">
                <a:latin typeface="Courier New"/>
                <a:cs typeface="Courier New"/>
              </a:rPr>
              <a:t>tests/</a:t>
            </a:r>
            <a:r>
              <a:rPr dirty="0" sz="1000" spc="-270">
                <a:latin typeface="Courier New"/>
                <a:cs typeface="Courier New"/>
              </a:rPr>
              <a:t> </a:t>
            </a:r>
            <a:r>
              <a:rPr dirty="0" sz="1000">
                <a:latin typeface="Arial"/>
                <a:cs typeface="Arial"/>
              </a:rPr>
              <a:t>– </a:t>
            </a:r>
            <a:r>
              <a:rPr dirty="0" sz="1000" spc="-25">
                <a:latin typeface="Arial"/>
                <a:cs typeface="Arial"/>
              </a:rPr>
              <a:t>Test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suite</a:t>
            </a:r>
            <a:endParaRPr sz="10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490"/>
              </a:spcBef>
            </a:pPr>
            <a:r>
              <a:rPr dirty="0" baseline="5555" sz="1500">
                <a:latin typeface="Lucida Grande"/>
                <a:cs typeface="Lucida Grande"/>
              </a:rPr>
              <a:t>▶</a:t>
            </a:r>
            <a:r>
              <a:rPr dirty="0" baseline="5555" sz="1500" spc="127">
                <a:latin typeface="Lucida Grande"/>
                <a:cs typeface="Lucida Grande"/>
              </a:rPr>
              <a:t> </a:t>
            </a:r>
            <a:r>
              <a:rPr dirty="0" sz="1000" spc="-85">
                <a:latin typeface="Courier New"/>
                <a:cs typeface="Courier New"/>
              </a:rPr>
              <a:t>todo</a:t>
            </a:r>
            <a:r>
              <a:rPr dirty="0" sz="1000" spc="-225">
                <a:latin typeface="Courier New"/>
                <a:cs typeface="Courier New"/>
              </a:rPr>
              <a:t> </a:t>
            </a:r>
            <a:r>
              <a:rPr dirty="0" sz="1000" spc="-85">
                <a:latin typeface="Courier New"/>
                <a:cs typeface="Courier New"/>
              </a:rPr>
              <a:t>api/</a:t>
            </a:r>
            <a:r>
              <a:rPr dirty="0" sz="1000" spc="-270">
                <a:latin typeface="Courier New"/>
                <a:cs typeface="Courier New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Django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project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settings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2470"/>
            <a:ext cx="141160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06680">
              <a:lnSpc>
                <a:spcPct val="133800"/>
              </a:lnSpc>
              <a:spcBef>
                <a:spcPts val="100"/>
              </a:spcBef>
            </a:pPr>
            <a:r>
              <a:rPr dirty="0" sz="600">
                <a:latin typeface="Arial"/>
                <a:cs typeface="Arial"/>
                <a:hlinkClick r:id="rId2" action="ppaction://hlinksldjump"/>
              </a:rPr>
              <a:t>COMP3011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2" action="ppaction://hlinksldjump"/>
              </a:rPr>
              <a:t>Services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600" spc="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latin typeface="Arial"/>
                <a:cs typeface="Arial"/>
                <a:hlinkClick r:id="rId2" action="ppaction://hlinksldjump"/>
              </a:rPr>
              <a:t>Web</a:t>
            </a:r>
            <a:r>
              <a:rPr dirty="0" sz="600" spc="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0">
                <a:latin typeface="Arial"/>
                <a:cs typeface="Arial"/>
                <a:hlinkClick r:id="rId2" action="ppaction://hlinksldjump"/>
              </a:rPr>
              <a:t>Data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  <a:hlinkClick r:id="rId3" action="ppaction://hlinksldjump"/>
              </a:rPr>
              <a:t>END</a:t>
            </a:r>
            <a:r>
              <a:rPr dirty="0" sz="600" spc="5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80">
                <a:latin typeface="Arial"/>
                <a:cs typeface="Arial"/>
                <a:hlinkClick r:id="rId3" action="ppaction://hlinksldjump"/>
              </a:rPr>
              <a:t>&amp;</a:t>
            </a:r>
            <a:r>
              <a:rPr dirty="0" sz="600" spc="5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5">
                <a:latin typeface="Arial"/>
                <a:cs typeface="Arial"/>
                <a:hlinkClick r:id="rId3" action="ppaction://hlinksldjump"/>
              </a:rPr>
              <a:t>Q&amp;A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98301"/>
            <a:ext cx="4608195" cy="344805"/>
            <a:chOff x="0" y="98301"/>
            <a:chExt cx="4608195" cy="344805"/>
          </a:xfrm>
        </p:grpSpPr>
        <p:sp>
          <p:nvSpPr>
            <p:cNvPr id="4" name="object 4" descr=""/>
            <p:cNvSpPr/>
            <p:nvPr/>
          </p:nvSpPr>
          <p:spPr>
            <a:xfrm>
              <a:off x="0" y="404876"/>
              <a:ext cx="4608195" cy="38100"/>
            </a:xfrm>
            <a:custGeom>
              <a:avLst/>
              <a:gdLst/>
              <a:ahLst/>
              <a:cxnLst/>
              <a:rect l="l" t="t" r="r" b="b"/>
              <a:pathLst>
                <a:path w="4608195" h="38100">
                  <a:moveTo>
                    <a:pt x="4608004" y="0"/>
                  </a:moveTo>
                  <a:lnTo>
                    <a:pt x="0" y="0"/>
                  </a:lnTo>
                  <a:lnTo>
                    <a:pt x="0" y="37960"/>
                  </a:lnTo>
                  <a:lnTo>
                    <a:pt x="4608004" y="37960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000" y="98301"/>
              <a:ext cx="971930" cy="28185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95300" y="515363"/>
            <a:ext cx="102361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latin typeface="Arial"/>
                <a:cs typeface="Arial"/>
              </a:rPr>
              <a:t>END </a:t>
            </a:r>
            <a:r>
              <a:rPr dirty="0" sz="1400" spc="120">
                <a:latin typeface="Arial"/>
                <a:cs typeface="Arial"/>
              </a:rPr>
              <a:t>&amp;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Q&amp;A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35785" y="1413647"/>
            <a:ext cx="936625" cy="956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00" spc="-10" b="1">
                <a:latin typeface="Arial"/>
                <a:cs typeface="Arial"/>
              </a:rPr>
              <a:t>Thanks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400" spc="-45" b="1">
                <a:latin typeface="Arial"/>
                <a:cs typeface="Arial"/>
              </a:rPr>
              <a:t>Questions?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Yuankun Zhou 201690952</dc:creator>
  <dc:title>COMP3011 Web Services and Web Data   Presentation Slides </dc:title>
  <dcterms:created xsi:type="dcterms:W3CDTF">2026-03-12T23:37:58Z</dcterms:created>
  <dcterms:modified xsi:type="dcterms:W3CDTF">2026-03-12T23:37:58Z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2026-03-12T00:00:00Z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